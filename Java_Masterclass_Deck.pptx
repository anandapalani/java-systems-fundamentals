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6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F1CC0-B22D-F24F-8715-3103263488C0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71681-C46F-A241-9777-2495E77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39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Desk vs. The Warehouse (LO2)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71681-C46F-A241-9777-2495E77DFB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BELLS SCTP FULL STACK DIPLOMA · MASTERCLASS 2</a:t>
            </a:r>
          </a:p>
          <a:p>
            <a:pPr>
              <a:defRPr sz="3800" b="1">
                <a:solidFill>
                  <a:srgbClr val="F8FAFC"/>
                </a:solidFill>
              </a:defRPr>
            </a:pPr>
            <a:r>
              <a:t>Java &amp; Systems Fundamentals:</a:t>
            </a:r>
            <a:br/>
            <a:r>
              <a:t>Under the Hood</a:t>
            </a:r>
          </a:p>
          <a:p>
            <a:br/>
            <a:r>
              <a:t>A Failure-First Production Masterclass: Step 1 (Trap) ➔ Step 2 (Clean Fix)</a:t>
            </a:r>
          </a:p>
          <a:p>
            <a:br/>
            <a:r>
              <a:t>Presenter: Ananda Palani | Senior Software Engineer &amp; Tech Lead (16+ Years Experience)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LO1 &amp; LO2: SYSTEMS CONTEXT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Java vs. JavaScript: When Do Errors Surface?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Core Banking Transaction Processors &amp; Payment Service Gateways.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rPr dirty="0"/>
              <a:t>🔴 JavaScript: Deferred Runtime Explosions</a:t>
            </a:r>
          </a:p>
          <a:p>
            <a:br>
              <a:rPr dirty="0"/>
            </a:br>
            <a:r>
              <a:rPr dirty="0"/>
              <a:t>let account = { id: 'SG-101', balance: 500 };</a:t>
            </a:r>
            <a:br>
              <a:rPr dirty="0"/>
            </a:br>
            <a:r>
              <a:rPr dirty="0" err="1"/>
              <a:t>console.log</a:t>
            </a:r>
            <a:r>
              <a:rPr dirty="0"/>
              <a:t>(</a:t>
            </a:r>
            <a:r>
              <a:rPr dirty="0" err="1"/>
              <a:t>account.balence.toFixed</a:t>
            </a:r>
            <a:r>
              <a:rPr dirty="0"/>
              <a:t>(2));</a:t>
            </a:r>
            <a:br>
              <a:rPr dirty="0"/>
            </a:br>
            <a:br>
              <a:rPr dirty="0"/>
            </a:br>
            <a:r>
              <a:rPr dirty="0"/>
              <a:t>Live Customer Production Crash:</a:t>
            </a:r>
            <a:br>
              <a:rPr dirty="0"/>
            </a:br>
            <a:r>
              <a:rPr dirty="0" err="1"/>
              <a:t>TypeError</a:t>
            </a:r>
            <a:r>
              <a:rPr dirty="0"/>
              <a:t>: Cannot read properties of undefined</a:t>
            </a:r>
            <a:br>
              <a:rPr dirty="0"/>
            </a:br>
            <a:br>
              <a:rPr dirty="0"/>
            </a:br>
            <a:r>
              <a:rPr dirty="0"/>
              <a:t>• Dynamic typing postpones checks until execution.</a:t>
            </a:r>
            <a:br>
              <a:rPr dirty="0"/>
            </a:br>
            <a:r>
              <a:rPr dirty="0"/>
              <a:t>• Silent coercion and member typos crash during customer transactions at 3 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rPr dirty="0"/>
              <a:t>🟢 Java: Compile-Time Verification</a:t>
            </a:r>
          </a:p>
          <a:p>
            <a:br>
              <a:rPr dirty="0"/>
            </a:br>
            <a:r>
              <a:rPr dirty="0"/>
              <a:t>Account acc = new Account('SG-101', 500.0);</a:t>
            </a:r>
            <a:br>
              <a:rPr dirty="0"/>
            </a:br>
            <a:r>
              <a:rPr dirty="0" err="1"/>
              <a:t>System.out.println</a:t>
            </a:r>
            <a:r>
              <a:rPr dirty="0"/>
              <a:t>(</a:t>
            </a:r>
            <a:r>
              <a:rPr dirty="0" err="1"/>
              <a:t>acc.balence</a:t>
            </a: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Compiler Output (</a:t>
            </a:r>
            <a:r>
              <a:rPr dirty="0" err="1"/>
              <a:t>javac</a:t>
            </a:r>
            <a:r>
              <a:rPr dirty="0"/>
              <a:t>):</a:t>
            </a:r>
            <a:br>
              <a:rPr dirty="0"/>
            </a:br>
            <a:r>
              <a:rPr dirty="0"/>
              <a:t>error: cannot find symbol '</a:t>
            </a:r>
            <a:r>
              <a:rPr dirty="0" err="1"/>
              <a:t>balence</a:t>
            </a:r>
            <a:r>
              <a:rPr dirty="0"/>
              <a:t>'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javac</a:t>
            </a:r>
            <a:r>
              <a:rPr dirty="0"/>
              <a:t> verifies types and method signatures before emitting .class bytecode.</a:t>
            </a:r>
            <a:br>
              <a:rPr dirty="0"/>
            </a:br>
            <a:r>
              <a:rPr dirty="0"/>
              <a:t>• Eliminates entire classes of production crashes before deployment.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LO1 &amp; LO2 DEFENSE: Java shifts type verification left to compile time, guaranteeing data consistency for enterprise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LO2: PHYSICAL MEMORY MODEL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Two Memory Realms: The Desk vs. The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How the JVM executes threads and manages runtime memory allocations.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dirty="0"/>
              <a:t>⚡ The Thread Stack (Your Private Workbench)</a:t>
            </a:r>
          </a:p>
          <a:p>
            <a:br>
              <a:rPr dirty="0"/>
            </a:br>
            <a:r>
              <a:rPr dirty="0"/>
              <a:t>• Thread-Private: Dedicated memory for each thread.</a:t>
            </a:r>
            <a:br>
              <a:rPr dirty="0"/>
            </a:br>
            <a:r>
              <a:rPr dirty="0"/>
              <a:t>• Extremely Fast: Managed directly via CPU stack pointer.</a:t>
            </a:r>
            <a:br>
              <a:rPr dirty="0"/>
            </a:br>
            <a:r>
              <a:rPr dirty="0"/>
              <a:t>• Stack Frame Lifecycle: Pushes when a method is called; pops automatically upon return.</a:t>
            </a:r>
            <a:br>
              <a:rPr dirty="0"/>
            </a:br>
            <a:r>
              <a:rPr dirty="0"/>
              <a:t>• Stores: Local primitive values (int, double, </a:t>
            </a:r>
            <a:r>
              <a:rPr dirty="0" err="1"/>
              <a:t>boolean</a:t>
            </a:r>
            <a:r>
              <a:rPr dirty="0"/>
              <a:t>).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rPr dirty="0"/>
              <a:t>🏢 The Shared Heap (The Warehouse)</a:t>
            </a:r>
          </a:p>
          <a:p>
            <a:br>
              <a:rPr dirty="0"/>
            </a:br>
            <a:r>
              <a:rPr dirty="0"/>
              <a:t>• Shared Storage: Accessible by all running threads.</a:t>
            </a:r>
            <a:br>
              <a:rPr dirty="0"/>
            </a:br>
            <a:r>
              <a:rPr dirty="0"/>
              <a:t>• Object House: Stores all class instances and arrays instantiated via 'new'.</a:t>
            </a:r>
            <a:br>
              <a:rPr dirty="0"/>
            </a:br>
            <a:r>
              <a:rPr dirty="0"/>
              <a:t>• Persistence: Objects live as long as an active thread holds a pointer to them.</a:t>
            </a:r>
            <a:br>
              <a:rPr dirty="0"/>
            </a:br>
            <a:r>
              <a:rPr dirty="0"/>
              <a:t>• Garbage Collector: Asynchronously reclaims unreferenced memory.</a:t>
            </a:r>
            <a:br>
              <a:rPr dirty="0"/>
            </a:br>
            <a:r>
              <a:rPr dirty="0"/>
              <a:t>• Memory Leaks: Retaining unneeded references prevents GC cleanup.</a:t>
            </a:r>
            <a:endParaRPr lang="en-US" dirty="0"/>
          </a:p>
          <a:p>
            <a:r>
              <a:rPr lang="en-IN"/>
              <a:t>• Stores: Reference pointers (64-bit memory addresses pointing to the Heap).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SYSTEM INVARIANT: Java variables never hold raw objects. They hold primitive values or 64-bit Heap addresses.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LO2 &amp; LO3: PARAMETER SEMANTICS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Lab 1 (Part 1): The Banking Ledger — The Fee Mutation Illusion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Ledger fee deduction module updating customer balances.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🔴 STEP 1: Primitive Parameter Mutation (Active)</a:t>
            </a:r>
          </a:p>
          <a:p>
            <a:br/>
            <a:r>
              <a:t>double balance = 500.0;</a:t>
            </a:r>
            <a:br/>
            <a:r>
              <a:t>applyFeeBroken(balance, 50.0);</a:t>
            </a:r>
            <a:br/>
            <a:br/>
            <a:r>
              <a:t>void applyFeeBroken(double bal, double fee) {</a:t>
            </a:r>
            <a:br/>
            <a:r>
              <a:t>    bal -= fee; // Mutates local stack copy only</a:t>
            </a:r>
            <a:br/>
            <a:r>
              <a:t>}</a:t>
            </a:r>
            <a:br/>
            <a:br/>
            <a:r>
              <a:t>Console Output:</a:t>
            </a:r>
            <a:br/>
            <a:r>
              <a:t>Balance after fee: $500.0  &lt;-- HIT THE BLOCK!</a:t>
            </a:r>
            <a:br/>
            <a:r>
              <a:t>Primitive remains unchanged in caller frame.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🟢 STEP 2: The Return Value Re-assignment (Commented)</a:t>
            </a:r>
          </a:p>
          <a:p>
            <a:br/>
            <a:r>
              <a:t>balance = applyFeeFixed(balance, 50.0);</a:t>
            </a:r>
            <a:br/>
            <a:br/>
            <a:r>
              <a:t>double applyFeeFixed(double bal, double fee) {</a:t>
            </a:r>
            <a:br/>
            <a:r>
              <a:t>    return bal - fee; // Explicit return to caller</a:t>
            </a:r>
            <a:br/>
            <a:r>
              <a:t>}</a:t>
            </a:r>
            <a:br/>
            <a:br/>
            <a:r>
              <a:t>Mechanics:</a:t>
            </a:r>
            <a:br/>
            <a:r>
              <a:t>• Java is ALWAYS Pass-by-Value.</a:t>
            </a:r>
            <a:br/>
            <a:r>
              <a:t>• The method's stack frame receives a raw photocopy (500.0).</a:t>
            </a:r>
            <a:br/>
            <a:r>
              <a:t>• The caller's stack frame remains isolated.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LO3 DEFENSE: Java passes all arguments by value. To update a primitive in the caller, reassign the returned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LO2 &amp; LO3: SYSTEMS INVARIANT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Lab 1 (Part 2): Object Pointers — Mutate vs. Reassign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VIP account upgrade service allocating new tier instances.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🔴 STEP 1: The Reassignment Trap (Active)</a:t>
            </a:r>
          </a:p>
          <a:p>
            <a:br/>
            <a:r>
              <a:t>void upgradeAccountBroken(Account acc) {</a:t>
            </a:r>
            <a:br/>
            <a:r>
              <a:t>    acc.setBalance(600.0); // Modifies shared Heap (Works!)</a:t>
            </a:r>
            <a:br/>
            <a:r>
              <a:t>    acc = new Account('VIP', 999999.0); // Rebinds copy</a:t>
            </a:r>
            <a:br/>
            <a:r>
              <a:t>}</a:t>
            </a:r>
            <a:br/>
            <a:br/>
            <a:r>
              <a:t>Console Output:</a:t>
            </a:r>
            <a:br/>
            <a:r>
              <a:t>Balance is $600.0, but the new VIP Account ($999,999)</a:t>
            </a:r>
            <a:br/>
            <a:r>
              <a:t>is completely lost upon returning to main()!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🟢 STEP 2: The Explicit Return Fix (Commented)</a:t>
            </a:r>
          </a:p>
          <a:p>
            <a:br/>
            <a:r>
              <a:t>primaryAccount = upgradeAccountFixed(primaryAccount);</a:t>
            </a:r>
            <a:br/>
            <a:br/>
            <a:r>
              <a:t>Account upgradeAccountFixed(Account acc) {</a:t>
            </a:r>
            <a:br/>
            <a:r>
              <a:t>    acc.setBalance(acc.getBalance() + 100.0);</a:t>
            </a:r>
            <a:br/>
            <a:r>
              <a:t>    return new Account(acc.getId(), 999999.0);</a:t>
            </a:r>
            <a:br/>
            <a:r>
              <a:t>}</a:t>
            </a:r>
            <a:br/>
            <a:br/>
            <a:r>
              <a:t>Caller stack frame explicitly captures the returned address.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INTERVIEW DEFENSE: 'For objects, Java copies the address pointer. Mutating fields alters the Heap; reassigning the variable only rebinds the local stack pointer.'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LO4 &amp; LO5: DATA PROTECTION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Lab 5: Bank Account Invariants — Encapsulation &amp;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Securing accounts against negative balances and unauthorized tampering.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🔴 STEP 1: Public Field Mutation (Active)</a:t>
            </a:r>
          </a:p>
          <a:p>
            <a:br/>
            <a:r>
              <a:t>public class BankAccountBroken {</a:t>
            </a:r>
            <a:br/>
            <a:r>
              <a:t>    public double balance; // Directly mutable!</a:t>
            </a:r>
            <a:br/>
            <a:r>
              <a:t>}</a:t>
            </a:r>
            <a:br/>
            <a:br/>
            <a:r>
              <a:t>// Rogue service mutates balance directly:</a:t>
            </a:r>
            <a:br/>
            <a:r>
              <a:t>account.balance = -50000.0; // Corrupted state!</a:t>
            </a:r>
            <a:br/>
            <a:br/>
            <a:r>
              <a:t>UML Notation: + balance: double (Public violation)</a:t>
            </a:r>
            <a:br/>
            <a:r>
              <a:t>Business invariant violated: balance &lt;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🟢 STEP 2: Encapsulated State Protection (Commented)</a:t>
            </a:r>
          </a:p>
          <a:p>
            <a:br/>
            <a:r>
              <a:t>public class BankAccountFixed {</a:t>
            </a:r>
            <a:br/>
            <a:r>
              <a:t>    private double balance; // Guarded state</a:t>
            </a:r>
            <a:br/>
            <a:r>
              <a:t>    </a:t>
            </a:r>
            <a:br/>
            <a:r>
              <a:t>    public void withdraw(double amount) {</a:t>
            </a:r>
            <a:br/>
            <a:r>
              <a:t>        if (amount &gt; balance) throw new Error();</a:t>
            </a:r>
            <a:br/>
            <a:r>
              <a:t>        balance -= amount;</a:t>
            </a:r>
            <a:br/>
            <a:r>
              <a:t>    }</a:t>
            </a:r>
            <a:br/>
            <a:r>
              <a:t>}</a:t>
            </a:r>
            <a:br/>
            <a:br/>
            <a:r>
              <a:t>UML Notation: - balance: double, + withdraw(double): void.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LO4 &amp; LO5 DEFENSE: Encapsulation protects business invariants. Private fields (-) enforce controlled state access through public methods (+).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LO4: INHERITANCE &amp; STATE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Lab 4: Membership Tiers — super() Chaining &amp; @Override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Airline loyalty rewards engine calculating tiered flight discounts.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🔴 STEP 1: Typo Without @Override (Active)</a:t>
            </a:r>
          </a:p>
          <a:p>
            <a:br/>
            <a:r>
              <a:t>class NormalMemberBroken extends Member {</a:t>
            </a:r>
            <a:br/>
            <a:r>
              <a:t>    // Typo without @Override annotation:</a:t>
            </a:r>
            <a:br/>
            <a:r>
              <a:t>    public double calculateDiscouunt(double bill) {</a:t>
            </a:r>
            <a:br/>
            <a:r>
              <a:t>        return bill * 0.05;</a:t>
            </a:r>
            <a:br/>
            <a:r>
              <a:t>    }</a:t>
            </a:r>
            <a:br/>
            <a:r>
              <a:t>}</a:t>
            </a:r>
            <a:br/>
            <a:br/>
            <a:r>
              <a:t>Output: Discount applied: $0.00!</a:t>
            </a:r>
            <a:br/>
            <a:r>
              <a:t>Method was ignored because javac treated it as an unrelated new method.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🟢 STEP 2: super() Chaining &amp; Strict @Override (Commented)</a:t>
            </a:r>
          </a:p>
          <a:p>
            <a:br/>
            <a:r>
              <a:t>class VIPMemberFixed extends Member {</a:t>
            </a:r>
            <a:br/>
            <a:r>
              <a:t>    public VIPMemberFixed(String id, String name) {</a:t>
            </a:r>
            <a:br/>
            <a:r>
              <a:t>        super(id, name); // Initializes parent state</a:t>
            </a:r>
            <a:br/>
            <a:r>
              <a:t>    }</a:t>
            </a:r>
            <a:br/>
            <a:r>
              <a:t>    @Override // Compiler verifies method signature</a:t>
            </a:r>
            <a:br/>
            <a:r>
              <a:t>    public double calculateDiscount(double bill) {</a:t>
            </a:r>
            <a:br/>
            <a:r>
              <a:t>        return bill * 0.20;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LO4 DEFENSE: super() invokes parent constructors to initialize inherited fields; @Override acts as a compile-time safety net against silent typos.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LO4: POLYMORPHISM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Lab 2: E-Commerce Fulfillment — The Raw Collection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Online shopping cart supporting physical books and digital subscriptions.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🔴 STEP 1: Raw Collections &amp; ClassCastException (Active)</a:t>
            </a:r>
          </a:p>
          <a:p>
            <a:br/>
            <a:r>
              <a:t>ArrayList rawCart = new ArrayList();</a:t>
            </a:r>
            <a:br/>
            <a:r>
              <a:t>rawCart.add(new PhysicalItem('Book', 45.0));</a:t>
            </a:r>
            <a:br/>
            <a:r>
              <a:t>rawCart.add(new DigitalSubscription('Cloud', 19.99));</a:t>
            </a:r>
            <a:br/>
            <a:br/>
            <a:r>
              <a:t>for (Object obj : rawCart) {</a:t>
            </a:r>
            <a:br/>
            <a:r>
              <a:t>    PhysicalItem item = (PhysicalItem) obj; // BOOM!</a:t>
            </a:r>
            <a:br/>
            <a:r>
              <a:t>}</a:t>
            </a:r>
            <a:br/>
            <a:br/>
            <a:r>
              <a:t>Terminal Crash: java.lang.ClassCastException!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🟢 STEP 2: Interface Contract &amp; Dynamic Dispatch (Commented)</a:t>
            </a:r>
          </a:p>
          <a:p>
            <a:br/>
            <a:r>
              <a:t>public interface Payable { double calculateFinalPrice(); }</a:t>
            </a:r>
            <a:br/>
            <a:br/>
            <a:r>
              <a:t>List&lt;Payable&gt; cart = new ArrayList&lt;&gt;();</a:t>
            </a:r>
            <a:br/>
            <a:r>
              <a:t>cart.add(new PhysicalItem('Book', 45.0));</a:t>
            </a:r>
            <a:br/>
            <a:r>
              <a:t>cart.add(new DigitalSubscription('Cloud', 19.99));</a:t>
            </a:r>
            <a:br/>
            <a:br/>
            <a:r>
              <a:t>for (Payable item : cart) total += item.calculateFinalPrice();</a:t>
            </a:r>
            <a:br/>
            <a:r>
              <a:t>Clean, safe, and extensible without manual casts.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LO4 DEFENSE: Interface contracts decouple business logic from concrete classes, allowing new product types without modifying checkout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LO4: OOP DESIGN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Architectural Decision: Abstract Class vs.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Structuring scalable enterprise software architectures without code duplication.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🧬 Abstract Base Class: Shared DNA ('Is-a')</a:t>
            </a:r>
          </a:p>
          <a:p>
            <a:br/>
            <a:r>
              <a:t>• Purpose: Code reuse and shared internal state (fields).</a:t>
            </a:r>
            <a:br/>
            <a:r>
              <a:t>• Constructors: Enforces state initialization via super().</a:t>
            </a:r>
            <a:br/>
            <a:r>
              <a:t>• Single Inheritance: A class can extend only ONE abstract class.</a:t>
            </a:r>
            <a:br/>
            <a:r>
              <a:t>• Example:</a:t>
            </a:r>
            <a:br/>
            <a:r>
              <a:t>  abstract class Member { id, name, loyaltyPoints }</a:t>
            </a:r>
            <a:br/>
            <a:r>
              <a:t>  VIPMember extends Member</a:t>
            </a:r>
            <a:br/>
            <a:r>
              <a:t>• Best When: Subclasses share core identity and field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📜 Interface: Capabilities &amp; Certifications ('Can-do')</a:t>
            </a:r>
          </a:p>
          <a:p>
            <a:br/>
            <a:r>
              <a:t>• Purpose: Enforces behavioral contracts across unrelated classes.</a:t>
            </a:r>
            <a:br/>
            <a:r>
              <a:t>• Flexibility: A class can implement MULTIPLE interfaces.</a:t>
            </a:r>
            <a:br/>
            <a:r>
              <a:t>• Decoupling: Does not mandate internal field structure.</a:t>
            </a:r>
            <a:br/>
            <a:r>
              <a:t>• Example:</a:t>
            </a:r>
            <a:br/>
            <a:r>
              <a:t>  PhysicalItem implements Payable, Shippable</a:t>
            </a:r>
            <a:br/>
            <a:r>
              <a:t>  DigitalSubscription implements Payable</a:t>
            </a:r>
            <a:br/>
            <a:r>
              <a:t>• Best When: Independent classes share a common capability.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DECISION RULE: Use Abstract Classes to share state and identity ('Is-a'); use Interfaces to enforce behavioral capabilities ('Can-do').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LO5: PORTFOLIO MODELING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Visualizing Architecture: Translating Code to UML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Mapping Java class relationships to formal UML Class Diagrams.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⚠️ Assessment Mistakes to Avoid</a:t>
            </a:r>
          </a:p>
          <a:p>
            <a:br/>
            <a:r>
              <a:t>• Missing Visibility Marks: Forgetting '-' for private attributes and '+' for public methods.</a:t>
            </a:r>
            <a:br/>
            <a:r>
              <a:t>• Inverted Arrows: Pointing inheritance lines from parent down to child.</a:t>
            </a:r>
            <a:br/>
            <a:r>
              <a:t>• Wrong Line Styles: Using solid lines for interfaces instead of dashed lines.</a:t>
            </a:r>
            <a:br/>
            <a:r>
              <a:t>• Missing Signatures: Omitting parameter types and return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📐 Standard UML Class Representation</a:t>
            </a:r>
          </a:p>
          <a:p>
            <a:br/>
            <a:r>
              <a:t>• 3-Compartment Class Box:</a:t>
            </a:r>
            <a:br/>
            <a:r>
              <a:t>  [ Class Name ]</a:t>
            </a:r>
            <a:br/>
            <a:r>
              <a:t>  [ Attributes: - balance : double ]</a:t>
            </a:r>
            <a:br/>
            <a:r>
              <a:t>  [ Methods:    + withdraw(amt : double) : void ]</a:t>
            </a:r>
            <a:br/>
            <a:br/>
            <a:r>
              <a:t>• Relationships:</a:t>
            </a:r>
            <a:br/>
            <a:r>
              <a:t>  ──▷ Solid hollow triangle: extends (Inheritance)</a:t>
            </a:r>
            <a:br/>
            <a:r>
              <a:t>  ┈┈▷ Dashed hollow triangle: implements (Interface)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LO5 DEFENSE: Your UML diagram is the visual contract of your software; it must reflect your access modifiers and inheritance lines 1-to-1.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Lab 3: Order Fulfillment — The Silent Production Freeze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Concurrent checkouts locking inventory reservations and payment gateways.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🔴 STEP 1: Inverted Lock Acquisition (Active)</a:t>
            </a:r>
          </a:p>
          <a:p>
            <a:br/>
            <a:r>
              <a:t>Tx-1: Locks Inventory -&gt; Requests Payment Lock</a:t>
            </a:r>
            <a:br/>
            <a:r>
              <a:t>Tx-2: Locks Payment   -&gt; Requests Inventory Lock</a:t>
            </a:r>
            <a:br/>
            <a:br/>
            <a:r>
              <a:t>Symptoms in Production:</a:t>
            </a:r>
            <a:br/>
            <a:r>
              <a:t>• Zero error logs, zero exceptions thrown</a:t>
            </a:r>
            <a:br/>
            <a:r>
              <a:t>• CPU drops to 0%</a:t>
            </a:r>
            <a:br/>
            <a:r>
              <a:t>• Incoming checkouts stall indefinitely</a:t>
            </a:r>
            <a:br/>
            <a:r>
              <a:t>• The entire ordering service halts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🟢 STEP 2: Terminal jstack Diagnostics &amp; Global Ordering</a:t>
            </a:r>
          </a:p>
          <a:p>
            <a:br/>
            <a:r>
              <a:t>Terminal Investigation:</a:t>
            </a:r>
            <a:br/>
            <a:r>
              <a:t>1. Find process ID: jps</a:t>
            </a:r>
            <a:br/>
            <a:r>
              <a:t>2. Extract thread dump: jstack &lt;PID&gt;</a:t>
            </a:r>
            <a:br/>
            <a:br/>
            <a:r>
              <a:t>Output:</a:t>
            </a:r>
            <a:br/>
            <a:r>
              <a:t>'Found one Java-level deadlock:</a:t>
            </a:r>
            <a:br/>
            <a:r>
              <a:t> Thread Order-Tx-1 is waiting on lock held by Order-Tx-2'</a:t>
            </a:r>
            <a:br/>
            <a:br/>
            <a:r>
              <a:t>Resolution: Uniform Global Lock Ordering (Both acquire Inventory first).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PRODUCTION DIAGNOSTICS: When a service freezes with 0% CPU, inspect thread states using jstack before attempting a blind server reboot.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ORAL EVALUATION COACHING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Mock Interview Defense: Junior vs. Senior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 APPLICATION CONTEXT: Framing systems answers for next weekend's 1:1 technical evaluations.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❌ Junior Answers (Fails Technical Depth)</a:t>
            </a:r>
          </a:p>
          <a:p>
            <a:br/>
            <a:r>
              <a:t>• 'Primitives are pass-by-value, objects are pass-by-reference.'</a:t>
            </a:r>
            <a:br/>
            <a:r>
              <a:t>• 'Abstract classes have some code, interfaces have none.'</a:t>
            </a:r>
            <a:br/>
            <a:r>
              <a:t>• 'If an application freezes, I restart the server or check console logs.'</a:t>
            </a:r>
            <a:br/>
            <a:r>
              <a:t>• Focuses only on keyword definitions without explaining runtime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977639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✅ Senior Framing (Systems Grounding)</a:t>
            </a:r>
          </a:p>
          <a:p>
            <a:br/>
            <a:r>
              <a:t>• 'Java is always pass-by-value; for objects, the value is the 64-bit Heap address pointer.'</a:t>
            </a:r>
            <a:br/>
            <a:r>
              <a:t>• 'Abstract classes represent shared state ('Is-a') via super(); interfaces enforce decoupled capabilities ('Can-do').'</a:t>
            </a:r>
            <a:br/>
            <a:r>
              <a:t>• 'I take a thread dump with jstack to locate BLOCKED threads and identify circular monitor lock contentions.'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EVALUATION STRATEGY: Senior engineers explain the WHY and the memory model behind the syntax.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2215</Words>
  <Application>Microsoft Macintosh PowerPoint</Application>
  <PresentationFormat>Widescreen</PresentationFormat>
  <Paragraphs>95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Palani, Ananda</cp:lastModifiedBy>
  <cp:revision>2</cp:revision>
  <dcterms:created xsi:type="dcterms:W3CDTF">2013-01-27T09:14:16Z</dcterms:created>
  <dcterms:modified xsi:type="dcterms:W3CDTF">2026-10-23T14:40:35Z</dcterms:modified>
  <cp:category/>
</cp:coreProperties>
</file>