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BELLS SCTP FULL STACK DIPLOMA · MASTERCLASS 2</a:t>
            </a:r>
          </a:p>
          <a:p>
            <a:pPr>
              <a:defRPr sz="3800" b="1">
                <a:solidFill>
                  <a:srgbClr val="F8FAFC"/>
                </a:solidFill>
                <a:latin typeface="Segoe UI"/>
              </a:defRPr>
            </a:pPr>
            <a:r>
              <a:t>Java &amp; Systems Fundamentals:</a:t>
            </a:r>
            <a:br/>
            <a:r>
              <a:t>Under the Hood</a:t>
            </a:r>
          </a:p>
          <a:p>
            <a:br/>
            <a:pPr>
              <a:defRPr sz="1700">
                <a:solidFill>
                  <a:srgbClr val="94A3B8"/>
                </a:solidFill>
                <a:latin typeface="Segoe UI"/>
              </a:defRPr>
            </a:pPr>
            <a:r>
              <a:t>A Failure-First Production Masterclass: Step 1 (Trap) ➔ Step 2 (Clean Fix)</a:t>
            </a:r>
          </a:p>
          <a:p>
            <a:br/>
            <a:pPr>
              <a:defRPr sz="1400">
                <a:solidFill>
                  <a:srgbClr val="38BDF8"/>
                </a:solidFill>
                <a:latin typeface="Segoe UI"/>
              </a:defRPr>
            </a:pPr>
            <a:r>
              <a:t>Presenter: Ananda Palani | Senior Software Engineer &amp; Tech Lead (16+ Years Experience)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LO1: SYSTEMS CONTEXT &amp; RUNTIME ARCHITECTURE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Platform Independence: What Does 'Write Once, Run Anywhere'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Deploying core transaction engines across Windows, AWS Linux, and Apple Silicon clusters.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Native C/C++: Recompile Everywhere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Source (App.c)</a:t>
            </a:r>
            <a:br/>
            <a:r>
              <a:t>  ├── Windows Compiler (MSVC) ──&gt; Win .exe (x86)</a:t>
            </a:r>
            <a:br/>
            <a:r>
              <a:t>  ├── Linux Compiler (GCC)    ──&gt; Linux ELF (x86)</a:t>
            </a:r>
            <a:br/>
            <a:r>
              <a:t>  └── macOS Compiler (Clang)  ──&gt; Mac Mach-O (ARM)</a:t>
            </a:r>
            <a:br/>
            <a:br/>
            <a:r>
              <a:t>Target: Directly targets silicon instruction sets.</a:t>
            </a:r>
            <a:br/>
            <a:r>
              <a:t>Binary from one OS crashes on another!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Machine-Dependent: Compiles directly to CPU machine code.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Incompatible: Running an x86 binary on ARM triggers fatal exec errors.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Fragile: Requires separate build agents and OS-specific guards.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Java (WORA): Universal Bytecode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Source (App.java)</a:t>
            </a:r>
            <a:br/>
            <a:r>
              <a:t>     │ javac (Compile ONCE)</a:t>
            </a:r>
            <a:br/>
            <a:r>
              <a:t>     ▼</a:t>
            </a:r>
            <a:br/>
            <a:r>
              <a:t>Universal Bytecode (App.class)</a:t>
            </a:r>
            <a:br/>
            <a:r>
              <a:t>     ├── Windows JVM ──&gt; Win32 API &amp; x86 Assembly</a:t>
            </a:r>
            <a:br/>
            <a:r>
              <a:t>     ├── Linux JVM   ──&gt; Linux Syscalls &amp; x86 Assembly</a:t>
            </a:r>
            <a:br/>
            <a:r>
              <a:t>     └── macOS JVM   ──&gt; Darwin Kernel &amp; ARM64 Assembly</a:t>
            </a:r>
            <a:br/>
            <a:br/>
            <a:r>
              <a:t>Universal Opcodes executed by native JVMs!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Platform-Neutral: javac emits universal virtual opcodes (.class).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Native Translation: Each OS runs its own platform-dependent JVM.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Production Power: Build once in CI/CD, deploy identically anywhere.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LO1 INTERVIEW DEFENSE: 'javac compiles once into platform-neutral bytecode targeting the JVM. The OS-specific JVM then translates that bytecode into native machine instructions at runtime.'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LO2: PHYSICAL MEMORY MODEL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Two Memory Realms: The Desk vs. The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How the JVM allocates execution frames and manages shared heap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38BDF8"/>
                </a:solidFill>
                <a:latin typeface="Segoe UI"/>
              </a:defRPr>
            </a:pPr>
            <a:r>
              <a:t>⚡ Thread Stack (Your Private Workbench)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STACK FRAME: main()                              │</a:t>
            </a:r>
            <a:br/>
            <a:r>
              <a:t>│   [ int myScore = 50 ]  (Literal bits)           │</a:t>
            </a:r>
            <a:br/>
            <a:r>
              <a:t>│   [ User user = 0xCAFE ] ─────Pointer──────┐     │</a:t>
            </a:r>
            <a:br/>
            <a:r>
              <a:t>├────────────────────────────────────────────┼─────┤</a:t>
            </a:r>
            <a:br/>
            <a:r>
              <a:t>│ STACK FRAME: applyFee()                    │     │</a:t>
            </a:r>
            <a:br/>
            <a:r>
              <a:t>│   [ double bal = 500.0 ]                   │     │</a:t>
            </a:r>
            <a:br/>
            <a:r>
              <a:t>│   [ Account acc = 0xBEEF ] ───Pointer──┐   │     │</a:t>
            </a:r>
            <a:br/>
            <a:r>
              <a:t>└────────────────────────────────────────┼───┼─────┘</a:t>
            </a:r>
            <a:br/>
            <a:r>
              <a:t> (Pushes on method call; pops on return!)│   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Thread-Private: Dedicated stack allocated per OS thread.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CPU-Fast: Managed directly by CPU stack pointer register.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Contents: Primitive values (int, double) and 64-bit Heap addresses.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ACC15"/>
                </a:solidFill>
                <a:latin typeface="Segoe UI"/>
              </a:defRPr>
            </a:pPr>
            <a:r>
              <a:t>🏢 Shared Heap (The Global Warehouse)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│   │</a:t>
            </a:r>
            <a:br/>
            <a:r>
              <a:t>┌────────────────────────────────────────┼───┼─────┐</a:t>
            </a:r>
            <a:br/>
            <a:r>
              <a:t>│ User Instance @ 0xCAFE &lt;───────────────┘   │     │</a:t>
            </a:r>
            <a:br/>
            <a:r>
              <a:t>│   - name: 'Alice'                          │     │</a:t>
            </a:r>
            <a:br/>
            <a:r>
              <a:t>│   - tier: 'Normal'                         │     │</a:t>
            </a:r>
            <a:br/>
            <a:r>
              <a:t>├────────────────────────────────────────────┼─────┤</a:t>
            </a:r>
            <a:br/>
            <a:r>
              <a:t>│ Account Instance @ 0xBEEF &lt;────────────────┘     │</a:t>
            </a:r>
            <a:br/>
            <a:r>
              <a:t>│   - balance: 500.0                               │</a:t>
            </a:r>
            <a:br/>
            <a:r>
              <a:t>│   - id: 'SG-ACC-001'                             │</a:t>
            </a:r>
            <a:br/>
            <a:r>
              <a:t>└──────────────────────────────────────────────────┘</a:t>
            </a:r>
            <a:br/>
            <a:r>
              <a:t> (Persists until Zero Active References exist!)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Shared Storage: Single global pool shared across all threads.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Object House: Stores all instances created with the 'new' keyword.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Garbage Collector: Asynchronously reclaims unreferenced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SYSTEM INVARIANT: Java variables never hold raw objects. They hold primitive values or 64-bit Heap addresses.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LO2 &amp; LO3: PARAMETER SEMANTICS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Lab 1 (Part 1): Pass-by-Value — The Fee Mutation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Ledger fee deduction module updating customer balances.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STEP 1: Primitive Parameter Mutation (Trap)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Caller Frame [main]                  Callee Frame [applyFee]</a:t>
            </a:r>
            <a:br/>
            <a:r>
              <a:t>┌──────────────────────┐  Photocopy  ┌──────────────────────┐</a:t>
            </a:r>
            <a:br/>
            <a:r>
              <a:t>│ balance = 500.0      │ ──────────&gt; │ bal = 500.0          │</a:t>
            </a:r>
            <a:br/>
            <a:r>
              <a:t>└──────────────────────┘    Bits     │   bal -= 50 (450.0)  │</a:t>
            </a:r>
            <a:br/>
            <a:r>
              <a:t>     ▲                               └──────────────────────┘</a:t>
            </a:r>
            <a:br/>
            <a:r>
              <a:t>     │                                          │ Pop &amp; shred</a:t>
            </a:r>
            <a:br/>
            <a:r>
              <a:t>     └──────── UNTOUCHED! Still $500.0 ─────────┘</a:t>
            </a:r>
            <a:br/>
            <a:br/>
            <a:r>
              <a:t>Terminal Output: Balance after fee: $500.0 (Unchanged!)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The Trap: Method mutated its local parameter variable copy.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The Reality: Caller frame is physically isolated in memory.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Photocopy Rule: Method wrote on its copy; original was untouched.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STEP 2: Return Re-assignment (Clean Fix)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Caller Frame [main]                  Callee Frame [applyFee]</a:t>
            </a:r>
            <a:br/>
            <a:r>
              <a:t>┌──────────────────────┐  Reassign   ┌──────────────────────┐</a:t>
            </a:r>
            <a:br/>
            <a:r>
              <a:t>│ balance = apply(...) │ &lt;──Returns─ │ return bal - fee;    │</a:t>
            </a:r>
            <a:br/>
            <a:r>
              <a:t>└──────────┬───────────┘    450.0    │  (Returns 450.0)     │</a:t>
            </a:r>
            <a:br/>
            <a:r>
              <a:t>           │                         └──────────────────────┘</a:t>
            </a:r>
            <a:br/>
            <a:r>
              <a:t>           ▼</a:t>
            </a:r>
            <a:br/>
            <a:r>
              <a:t>[ balance updated to $450.0 on caller stack frame ]</a:t>
            </a:r>
            <a:br/>
            <a:br/>
            <a:r>
              <a:t>Clean Fix: Reassign returned value explicitly.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The Fix: Methods must explicitly return calculated updates.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Always Pass-by-Value: Java passes primitive copies, never aliases.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Production Pattern: Treat primitives as immutable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LO3 DEFENSE: Java passes all arguments by value. To update a primitive in the caller, reassign the returned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LO2 &amp; LO3: SYSTEMS INVARIANT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Lab 1 (Part 2): Object Pointers — Mutate vs. Reassign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VIP account upgrade service allocating new tier instances.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STEP 1: Reassigning Pointer Copy (Trap)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Caller Frame [main]                  Callee Frame [upgrade]</a:t>
            </a:r>
            <a:br/>
            <a:r>
              <a:t>┌──────────────────────┐  Photocopy  ┌──────────────────────┐</a:t>
            </a:r>
            <a:br/>
            <a:r>
              <a:t>│ acc = 0xBEEF         │ ──────────&gt; │ acc = 0xBEEF         │</a:t>
            </a:r>
            <a:br/>
            <a:r>
              <a:t>└──────────┬───────────┘   Pointer   └──────────┬───────────┘</a:t>
            </a:r>
            <a:br/>
            <a:r>
              <a:t>           │                                    │ Reassign local:</a:t>
            </a:r>
            <a:br/>
            <a:r>
              <a:t>           │ Traverses: acc.setBal(600)         │ acc = 0xDEAD (new)</a:t>
            </a:r>
            <a:br/>
            <a:r>
              <a:t>           ▼                                    ▼</a:t>
            </a:r>
            <a:br/>
            <a:r>
              <a:t>  Heap Obj @ 0xBEEF (Bal: 600)         Heap Obj @ 0xDEAD (Lost!)</a:t>
            </a:r>
            <a:br/>
            <a:br/>
            <a:r>
              <a:t>Caller STILL points to 0xBEEF! The 999k account vanished!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Mutating Fields: Follows pointer to Heap ➔ Visible to caller.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Reassigning Parameter: Only changes local copy ➔ Invisible to caller.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The Shock: Reassigning an object argument never replaces caller object.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STEP 2: Explicit Pointer Capture (Clean Fix)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Caller Frame [main]                  Callee Frame [upgradeFixed]</a:t>
            </a:r>
            <a:br/>
            <a:r>
              <a:t>┌──────────────────────┐             ┌──────────────────────┐</a:t>
            </a:r>
            <a:br/>
            <a:r>
              <a:t>│ acc = upgradeFixed() │ &lt;──Returns─ │ return new Account();│</a:t>
            </a:r>
            <a:br/>
            <a:r>
              <a:t>└──────────┬───────────┘    0xDEAD   └──────────────────────┘</a:t>
            </a:r>
            <a:br/>
            <a:r>
              <a:t>           │</a:t>
            </a:r>
            <a:br/>
            <a:r>
              <a:t>           ▼ Caller pointer successfully updated!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NEW HEAP INSTANCE @ 0xDEAD (Balance: $999,999.0) │</a:t>
            </a:r>
            <a:br/>
            <a:r>
              <a:t>└──────────────────────────────────────────────────┘</a:t>
            </a:r>
            <a:br/>
            <a:br/>
            <a:r>
              <a:t>Clean Fix: Caller captures returned reference address.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Explicit Return: Return new object reference pointer to caller.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Pointer Mechanics: Java passes copies of 64-bit addresses.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Senior Framing: Never say 'pass-by-reference'. It is address-by-value.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INTERVIEW DEFENSE: 'For objects, Java copies the address pointer. Mutating fields alters the Heap; reassigning the variable only rebinds the local stack pointer.'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LO4 &amp; LO5: DATA PROTECTION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Lab 5: Bank Account Invariants — Encapsulation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Securing accounts against negative balances and unauthorized tampering.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STEP 1: Direct Tampering (+ Public Fields)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External Rogue Service               BankAccount (Heap)</a:t>
            </a:r>
            <a:br/>
            <a:r>
              <a:t>┌──────────────────────┐             ┌──────────────────────┐</a:t>
            </a:r>
            <a:br/>
            <a:r>
              <a:t>│ account.balance =    │ ──Direct──&gt; │ + balance = -50000.0 │</a:t>
            </a:r>
            <a:br/>
            <a:r>
              <a:t>│      -50000.0;       │  Tampering  │ + accountNumber      │</a:t>
            </a:r>
            <a:br/>
            <a:r>
              <a:t>└──────────────────────┘ (No check!) └──────────────────────┘</a:t>
            </a:r>
            <a:br/>
            <a:r>
              <a:t>                                       ▲ CORRUPTED STATE!</a:t>
            </a:r>
            <a:br/>
            <a:br/>
            <a:r>
              <a:t>UML Notation: + balance : double (Public Risk)</a:t>
            </a:r>
            <a:br/>
            <a:r>
              <a:t>Invariant Violated: Balance dropped below zero with NO error!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Public Vulnerability (+): Any rogue code can directly alter state.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Corrupted Data: Balances become negative; database audits fail.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Zero Traceability: Logs show no record of which thread caused the bug.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STEP 2: Encapsulated State Protection (- Private)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External Caller                      BankAccount Object</a:t>
            </a:r>
            <a:br/>
            <a:r>
              <a:t>┌──────────────────────┐             ┌──────────────────────┐</a:t>
            </a:r>
            <a:br/>
            <a:r>
              <a:t>│ account.withdraw(50k)│ ──Method──&gt; │ [ GUARD INVARIANT ]  │</a:t>
            </a:r>
            <a:br/>
            <a:r>
              <a:t>└──────────────────────┘    Call     │ if (amt &gt; bal) reject│</a:t>
            </a:r>
            <a:br/>
            <a:r>
              <a:t>                                     │   balance -= amt;    │</a:t>
            </a:r>
            <a:br/>
            <a:r>
              <a:t>                                     ├──────────────────────┤</a:t>
            </a:r>
            <a:br/>
            <a:r>
              <a:t>                                     │ - balance: 1000.0 🛡️ │</a:t>
            </a:r>
            <a:br/>
            <a:r>
              <a:t>                                     │ + withdraw(amt): void│</a:t>
            </a:r>
            <a:br/>
            <a:r>
              <a:t>                                     └──────────────────────┘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Private State (-): Internal fields shielded from direct access.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Public Guard (+): Methods enforce business invariants before mutating.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Defended Invariant: Withdrawal rejected cleanly; balance protected.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LO4 &amp; LO5 DEFENSE: Encapsulation protects business invariants. Private fields (-) enforce controlled state access through public methods (+).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LO4: INHERITANCE &amp; STATE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Lab 4: Membership Tiers — super() Chaining &amp; @Override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Airline loyalty rewards engine calculating tiered flight discounts.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STEP 1: Missing super() &amp; Typo Overrides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TRAP 1: Missing super() in Subclass Constructor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public NormalMemberBroken(String id, String name)│</a:t>
            </a:r>
            <a:br/>
            <a:r>
              <a:t>│   this.memberId = id; // COMPILE ERROR!          │</a:t>
            </a:r>
            <a:br/>
            <a:r>
              <a:t>└──────────────────────────────────────────────────┘</a:t>
            </a:r>
            <a:br/>
            <a:r>
              <a:t> error: constructor Member cannot be applied (no-arg missing)</a:t>
            </a:r>
            <a:br/>
            <a:br/>
            <a:r>
              <a:t>TRAP 2: Typo without @Override</a:t>
            </a:r>
            <a:br/>
            <a:r>
              <a:t>  public double calculateDiscouunt(double bill) { ... }</a:t>
            </a:r>
            <a:br/>
            <a:r>
              <a:t>  Output: $0.00 discount! Treated as brand-new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Constructor Rule: Java removes default Member() if custom one exists.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Forgotten super(): Subclass fails to compile without explicit chaining.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Typo Trap: Without @Override, misspelled methods fail silently at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STEP 2: super() Chaining &amp; Strict @Override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┌─────────────────────────────────┐</a:t>
            </a:r>
            <a:br/>
            <a:r>
              <a:t>         │ abstract class Member           │</a:t>
            </a:r>
            <a:br/>
            <a:r>
              <a:t>         │   Member(id, name) { ... }      │</a:t>
            </a:r>
            <a:br/>
            <a:r>
              <a:t>         └────────────────▲────────────────┘</a:t>
            </a:r>
            <a:br/>
            <a:r>
              <a:t>                          │ super(id, name) initializes shared DNA!</a:t>
            </a:r>
            <a:br/>
            <a:r>
              <a:t>         ┌────────────────┴────────────────┐</a:t>
            </a:r>
            <a:br/>
            <a:r>
              <a:t>         │ class VIPMemberFixed            │</a:t>
            </a:r>
            <a:br/>
            <a:r>
              <a:t>         │   VIPMemberFixed(id, name) {    │</a:t>
            </a:r>
            <a:br/>
            <a:r>
              <a:t>         │       super(id, name);          │</a:t>
            </a:r>
            <a:br/>
            <a:r>
              <a:t>         │   }                             │</a:t>
            </a:r>
            <a:br/>
            <a:r>
              <a:t>         │   @Override                     │</a:t>
            </a:r>
            <a:br/>
            <a:r>
              <a:t>         │   calcDiscount(bill) { ... }    │</a:t>
            </a:r>
            <a:br/>
            <a:r>
              <a:t>         └─────────────────────────────────┘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super(id, name): Explicitly initializes parent fields on the Heap.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@Override Guard: Forces javac to verify method signature matches base.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Safe Hierarchy: Subclass reliably satisfies abstract base contract.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LO4 DEFENSE: super() invokes parent constructors to initialize inherited fields on the Heap; @Override acts as a compile-time safety net against silent typos.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LO4: POLYMORPHISM &amp; COLLECTIONS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Lab 2: E-Commerce Fulfillment — The Raw Collection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Online shopping cart supporting physical books and digital subscriptions.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STEP 1: Raw Collections &amp; ClassCastException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Raw Collection: ArrayList rawCart = [ Book, DigitalSub ]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for (Object obj : rawCart) {                     │</a:t>
            </a:r>
            <a:br/>
            <a:r>
              <a:t>│     PhysicalItem item = (PhysicalItem) obj;      │</a:t>
            </a:r>
            <a:br/>
            <a:r>
              <a:t>│ }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└──────────────────────────────────────────────────┘</a:t>
            </a:r>
            <a:br/>
            <a:r>
              <a:t>                       │ Iteration 2 (DigitalSub arrives)</a:t>
            </a:r>
            <a:br/>
            <a:r>
              <a:t>                       ▼</a:t>
            </a:r>
            <a:br/>
            <a:r>
              <a:t> 💥 RUNTIME CRASH: java.lang.ClassCastException!</a:t>
            </a:r>
            <a:br/>
            <a:r>
              <a:t> DigitalSubscription cannot be cast to PhysicalItem!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Compiler Blindness: Raw collections lose type parameter checks.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Brittle Casting: Assuming all objects share one concrete type fails.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Production Danger: Deferred failure crashes checkout during live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STEP 2: Interface Contract &amp; Dynamic Dispatch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Typed Contract: List&lt;Payable&gt; cart</a:t>
            </a:r>
            <a:br/>
            <a:r>
              <a:t>                       ┌──────────────────────┐</a:t>
            </a:r>
            <a:br/>
            <a:r>
              <a:t>                       │&lt;&lt;interface&gt;&gt; Payable │</a:t>
            </a:r>
            <a:br/>
            <a:r>
              <a:t>                       ├──────────────────────┤</a:t>
            </a:r>
            <a:br/>
            <a:r>
              <a:t>                       │ + calcFinalPrice()   │</a:t>
            </a:r>
            <a:br/>
            <a:r>
              <a:t>                       └──────────▲───────────┘</a:t>
            </a:r>
            <a:br/>
            <a:r>
              <a:t>                                  │ implements</a:t>
            </a:r>
            <a:br/>
            <a:r>
              <a:t>            ┌─────────────────────┴─────────────────────┐</a:t>
            </a:r>
            <a:br/>
            <a:r>
              <a:t>   ┌────────────────────────┐                 ┌────────────────────────┐</a:t>
            </a:r>
            <a:br/>
            <a:r>
              <a:t>   │ PhysicalItem           │                 │ DigitalSubscription    │</a:t>
            </a:r>
            <a:br/>
            <a:r>
              <a:t>   └────────────────────────┘                 └────────────────────────┘</a:t>
            </a:r>
            <a:br/>
            <a:r>
              <a:t>for (Payable p : cart) total += p.calcFinalPrice(); (100% Safe!)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Interface Contract: Payable guarantees calculateFinalPrice() exists.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Dynamic Dispatch: JVM inspects object header and invokes correct class.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Open/Closed: Add 10 new product classes with zero changes to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LO4 DEFENSE: Interface contracts decouple business logic from concrete classes, allowing new product types without modifying checkout loops.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LO4: OOP DESIGN ARCHITECTURE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Architectural Decision: Abstract Class vs.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Structuring scalable enterprise software architectures without code duplication.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38BDF8"/>
                </a:solidFill>
                <a:latin typeface="Segoe UI"/>
              </a:defRPr>
            </a:pPr>
            <a:r>
              <a:t>🧬 Abstract Base Class: Shared DNA ('Is-a')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┌───────────────────────────────────┐</a:t>
            </a:r>
            <a:br/>
            <a:r>
              <a:t>          │       Customer (Base Class)       │</a:t>
            </a:r>
            <a:br/>
            <a:r>
              <a:t>          ├───────────────────────────────────┤</a:t>
            </a:r>
            <a:br/>
            <a:r>
              <a:t>          │ # customerId : String             │</a:t>
            </a:r>
            <a:br/>
            <a:r>
              <a:t>          │ # loyaltyPoints : double          │</a:t>
            </a:r>
            <a:br/>
            <a:r>
              <a:t>          ├───────────────────────────────────┤</a:t>
            </a:r>
            <a:br/>
            <a:r>
              <a:t>          │ + applyDiscount(subtotal)*        │</a:t>
            </a:r>
            <a:br/>
            <a:r>
              <a:t>          └─────────────────▲─────────────────┘</a:t>
            </a:r>
            <a:br/>
            <a:r>
              <a:t>                            │ extends (Single Inheritance)</a:t>
            </a:r>
            <a:br/>
            <a:r>
              <a:t>          ┌─────────────────┴─────────────────┐</a:t>
            </a:r>
            <a:br/>
            <a:r>
              <a:t>          │            VIPCustomer            │</a:t>
            </a:r>
            <a:br/>
            <a:r>
              <a:t>          └───────────────────────────────────┘</a:t>
            </a:r>
            <a:br/>
            <a:r>
              <a:t>   Inherits internal field memory &amp; chains super().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Domain Identity ('Is-a'): Shares core ancestry and state storage.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Instance Variables: Can hold mutable protected/private fields.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Single Inheritance: A subclass can extend only ONE base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ACC15"/>
                </a:solidFill>
                <a:latin typeface="Segoe UI"/>
              </a:defRPr>
            </a:pPr>
            <a:r>
              <a:t>📜 Interface: Capability Contract ('Can-do')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┌──────────────────────┐</a:t>
            </a:r>
            <a:br/>
            <a:r>
              <a:t>                         │&lt;&lt;interface&gt;&gt; Payable │</a:t>
            </a:r>
            <a:br/>
            <a:r>
              <a:t>                         ├──────────────────────┤</a:t>
            </a:r>
            <a:br/>
            <a:r>
              <a:t>                         │ + calcFinalPrice()   │</a:t>
            </a:r>
            <a:br/>
            <a:r>
              <a:t>                         └──────────▲───────────┘</a:t>
            </a:r>
            <a:br/>
            <a:r>
              <a:t>                                    ┊ implements (Multiple!)</a:t>
            </a:r>
            <a:br/>
            <a:r>
              <a:t>               ┌────────────────────┴────────────────────┐</a:t>
            </a:r>
            <a:br/>
            <a:r>
              <a:t>      ┌───────────────────┐                     ┌───────────────────┐</a:t>
            </a:r>
            <a:br/>
            <a:r>
              <a:t>      │   PhysicalItem    │                     │    DigitalSub     │</a:t>
            </a:r>
            <a:br/>
            <a:r>
              <a:t>      └───────────────────┘                     └───────────────────┘</a:t>
            </a:r>
            <a:br/>
            <a:r>
              <a:t>   Share ZERO DNA, but honor same billing capability.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Behavioral Contract ('Can-do'): Defines capabilities across classes.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Zero State: No instance variables (constants only); no constructors.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Multiple Implementations: A class can implement 10+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DECISION RULE: Use Abstract Classes to share state and identity ('Is-a'); use Interfaces to enforce behavioral capabilities ('Can-do').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LO5: PORTFOLIO MODELING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Visualizing Architecture: Translating Code to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Mapping Java class relationships to formal UML Class Diagrams.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⚠️ Assessment Traps &amp; Drawing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COMMON ASSESSMENT DRAWING BLUNDERS: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1. Missing Visibility: Omitting '-' and '+'      │</a:t>
            </a:r>
            <a:br/>
            <a:r>
              <a:t>│    (e.g., writing 'balance' instead of '- bal')  │</a:t>
            </a:r>
            <a:br/>
            <a:r>
              <a:t>│                                                  │</a:t>
            </a:r>
            <a:br/>
            <a:r>
              <a:t>│ 2. Inverted Arrows: Parent pointing down to child│</a:t>
            </a:r>
            <a:br/>
            <a:r>
              <a:t>│    (Rule: Arrows MUST point UP toward parent!)   │</a:t>
            </a:r>
            <a:br/>
            <a:r>
              <a:t>│                                                  │</a:t>
            </a:r>
            <a:br/>
            <a:r>
              <a:t>│ 3. Wrong Line Styles: Solid line for interfaces  │</a:t>
            </a:r>
            <a:br/>
            <a:r>
              <a:t>│    (Rule: Interface implementation is DASHED!)   │</a:t>
            </a:r>
            <a:br/>
            <a:r>
              <a:t>└──────────────────────────────────────────────────┘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Penalty Area: Evaluators reject diagrams that omit access symbols.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Direction Trap: Inheritance arrows flow from derived class to base.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Signature Errors: Always include parameter types and return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📐 Standard 3-Compartment UML Class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  <a:br/>
            <a:r>
              <a:t>│                      VIPCustomer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├────────────────────────────────────────────────────────┤</a:t>
            </a:r>
            <a:br/>
            <a:r>
              <a:t>│ - discountMultiplier : double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├────────────────────────────────────────────────────────┤</a:t>
            </a:r>
            <a:br/>
            <a:r>
              <a:t>│ + VIPCustomer(customerId: String, name: String)        │</a:t>
            </a:r>
            <a:br/>
            <a:r>
              <a:t>│ + applyDiscount(subtotal: double) : double             │</a:t>
            </a:r>
            <a:br/>
            <a:r>
              <a:t>└────────────────────────────────────────────────────────┘</a:t>
            </a:r>
            <a:br/>
            <a:r>
              <a:t> RELATIONSHIP ARROWS:</a:t>
            </a:r>
            <a:br/>
            <a:r>
              <a:t>   ──▷ Solid line + hollow triangle: extends Customer</a:t>
            </a:r>
            <a:br/>
            <a:r>
              <a:t>   ┈┈▷ Dashed line + hollow triangle: implements Payable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3 Compartments: Class Name / Attributes / Method Signatures.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Visibility: '-' = private, '+' = public, '#' = protected.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Strict 1-to-1 Mapping: Diagram must match your submitted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LO5 DEFENSE: Your UML diagram is the visual contract of your software; it must reflect your access modifiers and inheritance lines 1-to-1.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PRODUCTION DIAGNOSTICS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Lab 3: Order Fulfillment — The Silent Production Freeze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Concurrent checkouts locking inventory reservations and payment gateways.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🔴 STEP 1: Inverted Lock Acquisition (Deadlock)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THREAD 1: Order-Tx-1                 THREAD 2: Order-Tx-2</a:t>
            </a:r>
            <a:br/>
            <a:r>
              <a:t>┌──────────────────────┐             ┌──────────────────────┐</a:t>
            </a:r>
            <a:br/>
            <a:r>
              <a:t>│ Holds: INVENTORY_LOCK│             │ Holds: PAYMENT_LOCK  │</a:t>
            </a:r>
            <a:br/>
            <a:r>
              <a:t>│ Waits: PAYMENT_LOCK ─┼──Waits For─&gt;│ Waits: INVENTORY_LOCK│</a:t>
            </a:r>
            <a:br/>
            <a:r>
              <a:t>└──────────────────────┘             └──────────┬───────────┘</a:t>
            </a:r>
            <a:br/>
            <a:r>
              <a:t>           ▲                                    │</a:t>
            </a:r>
            <a:br/>
            <a:r>
              <a:t>           └──────────────Waits For─────────────┘</a:t>
            </a:r>
            <a:br/>
            <a:br/>
            <a:r>
              <a:t>SILENT FREEZE: CPU at 0.0% | Zero Exceptions | Requests Hang!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Circular Wait: Thread 1 needs Thread 2's lock; Thread 2 needs Thread 1's.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Silent Lockup: No exceptions logged; application becomes unresponsive.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The Anti-Pattern: Acquiring locks in arbitrary order across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🟢 STEP 2: Terminal jstack Diagnostics &amp; Ordering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$ jps                     # Find Process ID</a:t>
            </a:r>
            <a:br/>
            <a:r>
              <a:t>$ jstack &lt;PID&gt;            # Dump live thread monitors</a:t>
            </a:r>
            <a:br/>
            <a:br/>
            <a:r>
              <a:t>TERMINAL THREAD REPORT:</a:t>
            </a:r>
            <a:br/>
            <a:r>
              <a:t> 'Found one Java-level deadlock:</a:t>
            </a:r>
            <a:br/>
            <a:r>
              <a:t>  "Order-Tx-1": waiting on lock held by "Order-Tx-2"</a:t>
            </a:r>
            <a:br/>
            <a:r>
              <a:t>  "Order-Tx-2": waiting on lock held by "Order-Tx-1"'</a:t>
            </a:r>
            <a:br/>
            <a:br/>
            <a:r>
              <a:t>ARCHITECTURAL FIX: Enforce Uniform Global Lock Ordering!</a:t>
            </a:r>
            <a:br/>
            <a:r>
              <a:t>(Both threads acquire INVENTORY_LOCK first, then PAYMENT_LOCK)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Diagnostic Tool: jstack captures exact line numbers and thread states.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Global Ordering: Enforce a single sequence for multiple locks.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Senior Rule: Never restart a frozen pod without extracting jstack first.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PRODUCTION DIAGNOSTICS: When a service freezes with 0% CPU, inspect thread states using jstack before attempting a blind server reboot.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ORAL EVALUATION COACHING</a:t>
            </a:r>
          </a:p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Mock Interview Defense: Junior vs. Senior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BUSINESS APPLICATION CONTEXT: Framing systems answers for next weekend's 1:1 technical evaluations.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F87171"/>
                </a:solidFill>
                <a:latin typeface="Segoe UI"/>
              </a:defRPr>
            </a:pPr>
            <a:r>
              <a:t>❌ Junior Responses (Fails Technical Depth)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WEAK / JUNIOR RESPONSES (Avoid in Evaluations):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Q: Is Java pass-by-value or pass-by-reference?   │</a:t>
            </a:r>
            <a:br/>
            <a:r>
              <a:t>│ A: 'Primitives are by-value, objects by-ref.'    │</a:t>
            </a:r>
            <a:br/>
            <a:r>
              <a:t>│    (FAILS: Java is strictly pass-by-value!)      │</a:t>
            </a:r>
            <a:br/>
            <a:r>
              <a:t>│                                                  │</a:t>
            </a:r>
            <a:br/>
            <a:r>
              <a:t>│ Q: Abstract Class vs Interface?                  │</a:t>
            </a:r>
            <a:br/>
            <a:r>
              <a:t>│ A: 'Abstract has some code, interface has none.' │</a:t>
            </a:r>
            <a:br/>
            <a:r>
              <a:t>│    (FAILS: Ignores state vs behavioral contract) │</a:t>
            </a:r>
            <a:br/>
            <a:r>
              <a:t>└──────────────────────────────────────────────────┘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Textbook Traps: Repeating classroom clichés without physical context.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Syntax Bias: Describing keyword rules rather than runtime memory.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Debug Guesswork: Answering 'I restart the server' when apps freeze.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41605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350" b="1">
                <a:solidFill>
                  <a:srgbClr val="4ADE80"/>
                </a:solidFill>
                <a:latin typeface="Segoe UI"/>
              </a:defRPr>
            </a:pPr>
            <a:r>
              <a:t>✅ Senior Framing (Systems Grounding)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4846320" cy="2148840"/>
          </a:xfrm>
          <a:prstGeom prst="rect">
            <a:avLst/>
          </a:prstGeom>
          <a:solidFill>
            <a:srgbClr val="06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109728" rIns="137160" bIns="109728"/>
          <a:lstStyle/>
          <a:p>
            <a:pPr algn="ctr">
              <a:defRPr sz="880">
                <a:solidFill>
                  <a:srgbClr val="F8FAFC"/>
                </a:solidFill>
                <a:latin typeface="Consolas"/>
              </a:defRPr>
            </a:pPr>
            <a:r>
              <a:t>RECOMMENDED SENIOR FRAMING (Use in Evaluations):</a:t>
            </a:r>
            <a:br/>
            <a:r>
              <a:t>┌──────────────────────────────────────────────────┐</a:t>
            </a:r>
            <a:br/>
            <a:r>
              <a:t>│ 1. Pass-by-Value:                                │</a:t>
            </a:r>
            <a:br/>
            <a:r>
              <a:t>│    'Java always passes values; for objects, the  │</a:t>
            </a:r>
            <a:br/>
            <a:r>
              <a:t>│     value copied is the 64-bit Heap address.'    │</a:t>
            </a:r>
            <a:br/>
            <a:r>
              <a:t>│                                                  │</a:t>
            </a:r>
            <a:br/>
            <a:r>
              <a:t>│ 2. Abstract vs Interface:                        │</a:t>
            </a:r>
            <a:br/>
            <a:r>
              <a:t>│    'Abstract classes share domain DNA &amp; state;   │</a:t>
            </a:r>
            <a:br/>
            <a:r>
              <a:t>│     interfaces enforce decoupled capabilities.'  │</a:t>
            </a:r>
            <a:br/>
            <a:r>
              <a:t>└──────────────────────────────────────────────────┘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Grounded in Memory: Links answers to Stack frames and Heap storage.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Architectural Rationale: Explains the design 'WHY' behind choices.</a:t>
            </a:r>
          </a:p>
          <a:p>
            <a:pPr>
              <a:defRPr sz="980">
                <a:solidFill>
                  <a:srgbClr val="F8FAFC"/>
                </a:solidFill>
                <a:latin typeface="Segoe UI"/>
              </a:defRPr>
            </a:pPr>
            <a:r>
              <a:t>• Production Mindset: Describes diagnostic tools (jstack, thread dumps).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33872"/>
            <a:ext cx="106984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🎯 EVALUATION STRATEGY: Senior engineers explain the WHY and the memory model behind the syntax.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